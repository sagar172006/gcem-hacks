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8C5A"/>
                </a:solidFill>
                <a:latin typeface="Calibri"/>
              </a:rPr>
              <a:t>AMI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0"/>
            <a:ext cx="1645920" cy="384048"/>
          </a:xfrm>
          <a:prstGeom prst="rect">
            <a:avLst/>
          </a:prstGeom>
          <a:noFill/>
          <a:ln w="15240">
            <a:solidFill>
              <a:srgbClr val="FFC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2752344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BA4"/>
                </a:solidFill>
                <a:latin typeface="Calibri"/>
              </a:rPr>
              <a:t>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AF8F5"/>
                </a:solidFill>
                <a:latin typeface="Calibri"/>
              </a:rPr>
              <a:t>Re-imagining textbooks
for every learner.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0060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8A29E"/>
                </a:solidFill>
                <a:latin typeface="Calibri"/>
              </a:rPr>
              <a:t>A fully autonomous, multi-agent educational platform — built on zero-cost infrastructure.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0" y="1371600"/>
            <a:ext cx="2926080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371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1917"/>
                </a:solidFill>
                <a:latin typeface="Calibri"/>
              </a:rPr>
              <a:t>Immersive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2212848"/>
            <a:ext cx="2926080" cy="54864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2128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1917"/>
                </a:solidFill>
                <a:latin typeface="Calibri"/>
              </a:rPr>
              <a:t>Slides &amp; Narration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3054096"/>
            <a:ext cx="2926080" cy="548640"/>
          </a:xfrm>
          <a:prstGeom prst="rect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305409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1917"/>
                </a:solidFill>
                <a:latin typeface="Calibri"/>
              </a:rPr>
              <a:t>Audio Lesson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3895344"/>
            <a:ext cx="2926080" cy="5486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389534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1917"/>
                </a:solidFill>
                <a:latin typeface="Calibri"/>
              </a:rPr>
              <a:t>Mindmap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4736592"/>
            <a:ext cx="292608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73659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C1917"/>
                </a:solidFill>
                <a:latin typeface="Calibri"/>
              </a:rPr>
              <a:t>Test 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Calibri"/>
              </a:rPr>
              <a:t>Built for GCEM Hacks ·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5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8F5"/>
                </a:solidFill>
                <a:latin typeface="Calibri"/>
              </a:rPr>
              <a:t>One textbook. Eight billion different learners.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577840" cy="452628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AF8F5"/>
                </a:solidFill>
                <a:latin typeface="Calibri"/>
              </a:rPr>
              <a:t>Static Textbooks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A29E"/>
                </a:solidFill>
                <a:latin typeface="Calibri"/>
              </a:rPr>
              <a:t>— Fixed reading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3580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A29E"/>
                </a:solidFill>
                <a:latin typeface="Calibri"/>
              </a:rPr>
              <a:t>— One-size-fits-all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112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A29E"/>
                </a:solidFill>
                <a:latin typeface="Calibri"/>
              </a:rPr>
              <a:t>— No feedback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86783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8A29E"/>
                </a:solidFill>
                <a:latin typeface="Calibri"/>
              </a:rPr>
              <a:t>— Passive consumption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577840" cy="452628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19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  <a:latin typeface="Calibri"/>
              </a:rPr>
              <a:t>Every Learner is Different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2B00"/>
                </a:solidFill>
                <a:latin typeface="Calibri"/>
              </a:rPr>
              <a:t>— Different pace &amp; vocabulary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3580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2B00"/>
                </a:solidFill>
                <a:latin typeface="Calibri"/>
              </a:rPr>
              <a:t>— Different interests &amp; analogies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112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2B00"/>
                </a:solidFill>
                <a:latin typeface="Calibri"/>
              </a:rPr>
              <a:t>— Different goals &amp; deadlines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986783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C2B00"/>
                </a:solidFill>
                <a:latin typeface="Calibri"/>
              </a:rPr>
              <a:t>— Needs active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373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917"/>
                </a:solidFill>
                <a:latin typeface="Calibri"/>
              </a:rPr>
              <a:t>94% of students say textbooks don't match how they actually 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5A"/>
                </a:solidFill>
                <a:latin typeface="Calibri"/>
              </a:rPr>
              <a:t>WHAT AMI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F8F5"/>
                </a:solidFill>
                <a:latin typeface="Calibri"/>
              </a:rPr>
              <a:t>AMI transforms any topic into a
hyper-personalized learning experience.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103120"/>
            <a:ext cx="3566160" cy="425196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35661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304288"/>
            <a:ext cx="118872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  <a:latin typeface="Calibri"/>
              </a:rPr>
              <a:t>INSTANT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A78BFA"/>
                </a:solidFill>
                <a:latin typeface="Calibri"/>
              </a:rPr>
              <a:t>Instant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64992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D3D1"/>
                </a:solidFill>
                <a:latin typeface="Calibri"/>
              </a:rPr>
              <a:t>Search a topic or upload a PDF. AMI builds your complete module in under 30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03120"/>
            <a:ext cx="3566160" cy="425196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03120"/>
            <a:ext cx="3566160" cy="54864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304288"/>
            <a:ext cx="1188720" cy="32004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  <a:latin typeface="Calibri"/>
              </a:rPr>
              <a:t>PERSONAL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8C5A"/>
                </a:solidFill>
                <a:latin typeface="Calibri"/>
              </a:rPr>
              <a:t>Truly Personalized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64992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D3D1"/>
                </a:solidFill>
                <a:latin typeface="Calibri"/>
              </a:rPr>
              <a:t>Adapts to your grade level, interests, and past performance. No generic content.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3566160" cy="425196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3566160" cy="54864"/>
          </a:xfrm>
          <a:prstGeom prst="rect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2304288"/>
            <a:ext cx="1188720" cy="320040"/>
          </a:xfrm>
          <a:prstGeom prst="rect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  <a:latin typeface="Calibri"/>
              </a:rPr>
              <a:t>ZERO-COST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FB07A"/>
                </a:solidFill>
                <a:latin typeface="Calibri"/>
              </a:rPr>
              <a:t>Zero-Cost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364992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D3D1"/>
                </a:solidFill>
                <a:latin typeface="Calibri"/>
              </a:rPr>
              <a:t>25 Gemini keys, free-tier Supabase, Vercel &amp; Render. Built to run forever for free.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464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CBA4"/>
                </a:solidFill>
                <a:latin typeface="Calibri"/>
              </a:rPr>
              <a:t>"Any topic. Any learner. Any device. Any time."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5A"/>
                </a:solidFill>
                <a:latin typeface="Calibri"/>
              </a:rPr>
              <a:t>THE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92524"/>
                </a:solidFill>
                <a:latin typeface="Calibri"/>
              </a:rPr>
              <a:t>From question to mastery in four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63040"/>
            <a:ext cx="2724912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2724912" cy="50292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49047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917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140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2524"/>
                </a:solidFill>
                <a:latin typeface="Calibri"/>
              </a:rPr>
              <a:t>Search or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  <a:latin typeface="Calibri"/>
              </a:rPr>
              <a:t>Type any topic or drop a PDF / image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34747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5A"/>
                </a:solidFill>
                <a:latin typeface="Calibri"/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2696" y="1463040"/>
            <a:ext cx="2724912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82696" y="1463040"/>
            <a:ext cx="2724912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149047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917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212140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2524"/>
                </a:solidFill>
                <a:latin typeface="Calibri"/>
              </a:rPr>
              <a:t>Personalise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788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  <a:latin typeface="Calibri"/>
              </a:rPr>
              <a:t>Set grade level and interest for AMI to tailor.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4747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5A"/>
                </a:solidFill>
                <a:latin typeface="Calibri"/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463040"/>
            <a:ext cx="2724912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463040"/>
            <a:ext cx="2724912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9047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917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12140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2524"/>
                </a:solidFill>
                <a:latin typeface="Calibri"/>
              </a:rPr>
              <a:t>AI Builds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788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  <a:latin typeface="Calibri"/>
              </a:rPr>
              <a:t>5 formats: text, slides, audio, map, quiz.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34747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5A"/>
                </a:solidFill>
                <a:latin typeface="Calibri"/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08008" y="1463040"/>
            <a:ext cx="2724912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08008" y="1463040"/>
            <a:ext cx="2724912" cy="502920"/>
          </a:xfrm>
          <a:prstGeom prst="rect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7736" y="1490472"/>
            <a:ext cx="640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917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12140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2524"/>
                </a:solidFill>
                <a:latin typeface="Calibri"/>
              </a:rPr>
              <a:t>Learn &amp;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788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  <a:latin typeface="Calibri"/>
              </a:rPr>
              <a:t>Read, listen, explore, then prove your understanding.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6480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AF8F5"/>
                </a:solidFill>
                <a:latin typeface="Calibri"/>
              </a:rPr>
              <a:t>Returning users skip onboarding — AMI restores their exact session state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8F5"/>
                </a:solidFill>
                <a:latin typeface="Calibri"/>
              </a:rPr>
              <a:t>Hub &amp; Spoke — one brain, four specialized workers.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840480" cy="105156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64008" cy="105156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813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5A"/>
                </a:solidFill>
                <a:latin typeface="Calibri"/>
              </a:rPr>
              <a:t>LEAD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81965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A29E"/>
                </a:solidFill>
                <a:latin typeface="Calibri"/>
              </a:rPr>
              <a:t>Distills raw source -&gt; Master Context JSON  (1 Gemini call)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7830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5A"/>
                </a:solidFill>
                <a:latin typeface="Calibri"/>
              </a:rPr>
              <a:t>-------&gt;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298448"/>
            <a:ext cx="2194560" cy="105156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435607"/>
            <a:ext cx="219456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917"/>
                </a:solidFill>
                <a:latin typeface="Calibri"/>
              </a:rPr>
              <a:t>MASTER
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000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8716C"/>
                </a:solidFill>
                <a:latin typeface="Calibri"/>
              </a:rP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8716C"/>
                </a:solidFill>
                <a:latin typeface="Calibri"/>
              </a:rPr>
              <a:t>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2779776" cy="32461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2779776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4107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TEXT &amp; QUIZ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3858768"/>
            <a:ext cx="2450592" cy="29260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Calibri"/>
              </a:rPr>
              <a:t>PRIMARY key pool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+ Prose + inline quizzes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654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+ Grade-adaptive tone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8416" y="3291840"/>
            <a:ext cx="2779776" cy="32461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28416" y="3291840"/>
            <a:ext cx="2779776" cy="64008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4107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5A"/>
                </a:solidFill>
                <a:latin typeface="Calibri"/>
              </a:rPr>
              <a:t>SLIDES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3858768"/>
            <a:ext cx="2450592" cy="29260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38770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5A"/>
                </a:solidFill>
                <a:latin typeface="Calibri"/>
              </a:rPr>
              <a:t>SECONDARY key pool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+ 6 slides + narration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4654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+ Unsplash images auto-fetched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3291840"/>
            <a:ext cx="2779776" cy="32461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3291840"/>
            <a:ext cx="2779776" cy="64008"/>
          </a:xfrm>
          <a:prstGeom prst="rect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34107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B07A"/>
                </a:solidFill>
                <a:latin typeface="Calibri"/>
              </a:rPr>
              <a:t>MINDMAP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3858768"/>
            <a:ext cx="2450592" cy="29260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38770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B07A"/>
                </a:solidFill>
                <a:latin typeface="Calibri"/>
              </a:rPr>
              <a:t>Zero Gemini 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+ React Flow node 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4654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+ Instant — no API needed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53728" y="3291840"/>
            <a:ext cx="2779776" cy="32461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53728" y="3291840"/>
            <a:ext cx="2779776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4107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AUDIO 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0" y="3858768"/>
            <a:ext cx="2450592" cy="29260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36608" y="38770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Zero Gemini calls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+ Script -&gt; Web Speech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654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+ Chapter markers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501384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B07A"/>
                </a:solidFill>
                <a:latin typeface="Calibri"/>
              </a:rPr>
              <a:t>94% fewer tokens vs naive sequential approach  |  3 total Gemini calls per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5A"/>
                </a:solidFill>
                <a:latin typeface="Calibri"/>
              </a:rPr>
              <a:t>PHASE 1 — LEAD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92524"/>
                </a:solidFill>
                <a:latin typeface="Calibri"/>
              </a:rPr>
              <a:t>One Gemini call. Raw chaos -&gt; structured truth.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474720" cy="4892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16C"/>
                </a:solidFill>
                <a:latin typeface="Calibri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AF8F5"/>
                </a:solidFill>
                <a:latin typeface="Calibri"/>
              </a:rPr>
              <a:t>Raw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606040"/>
            <a:ext cx="3017520" cy="502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243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6D3D1"/>
                </a:solidFill>
                <a:latin typeface="Calibri"/>
              </a:rPr>
              <a:t>5,000-word Wikipedia article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46120"/>
            <a:ext cx="3017520" cy="502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644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6D3D1"/>
                </a:solidFill>
                <a:latin typeface="Calibri"/>
              </a:rPr>
              <a:t>Uploaded PDF / image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886200"/>
            <a:ext cx="3017520" cy="502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04487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6D3D1"/>
                </a:solidFill>
                <a:latin typeface="Calibri"/>
              </a:rPr>
              <a:t>User topic query string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709160"/>
            <a:ext cx="3017520" cy="123444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F4444"/>
                </a:solidFill>
                <a:latin typeface="Calibri"/>
              </a:rPr>
              <a:t>~5,000 tokens
(expensive if sent to every agent)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383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5A"/>
                </a:solidFill>
                <a:latin typeface="Calibri"/>
              </a:rPr>
              <a:t>==&gt;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417320"/>
            <a:ext cx="2834640" cy="489204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1917"/>
                </a:solidFill>
                <a:latin typeface="Calibri"/>
              </a:rPr>
              <a:t>LEAD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C1917"/>
                </a:solidFill>
                <a:latin typeface="Calibri"/>
              </a:rPr>
              <a:t>Gemini 2.0 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69748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1C1917"/>
                </a:solidFill>
                <a:latin typeface="Calibri"/>
              </a:rPr>
              <a:t>"Extract core concepts"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2004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1C1917"/>
                </a:solidFill>
                <a:latin typeface="Calibri"/>
              </a:rPr>
              <a:t>"Remove all fluff"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70332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1C1917"/>
                </a:solidFill>
                <a:latin typeface="Calibri"/>
              </a:rPr>
              <a:t>"Output strict JSON"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20624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1C1917"/>
                </a:solidFill>
                <a:latin typeface="Calibri"/>
              </a:rPr>
              <a:t>"5-8 concepts + facts"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349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917"/>
                </a:solidFill>
                <a:latin typeface="Calibri"/>
              </a:rPr>
              <a:t>1 API call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3832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5A"/>
                </a:solidFill>
                <a:latin typeface="Calibri"/>
              </a:rPr>
              <a:t>==&gt;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1417320"/>
            <a:ext cx="3337560" cy="4892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1600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16C"/>
                </a:solidFill>
                <a:latin typeface="Calibri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1965960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B07A"/>
                </a:solidFill>
                <a:latin typeface="Calibri"/>
              </a:rPr>
              <a:t>Master Context JSON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2606040"/>
            <a:ext cx="2971800" cy="502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51392" y="26334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coreConcepts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1392" y="2834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3D1"/>
                </a:solidFill>
                <a:latin typeface="Calibri"/>
              </a:rPr>
              <a:t>5-8 term + definition pairs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3200400"/>
            <a:ext cx="2971800" cy="502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1392" y="322783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keyFacts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34290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3D1"/>
                </a:solidFill>
                <a:latin typeface="Calibri"/>
              </a:rPr>
              <a:t>5-7 standalone facts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3794760"/>
            <a:ext cx="2971800" cy="502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51392" y="382219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toc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392" y="4023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3D1"/>
                </a:solidFill>
                <a:latin typeface="Calibri"/>
              </a:rPr>
              <a:t>4 section titles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4389120"/>
            <a:ext cx="2971800" cy="502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51392" y="44165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oneLiner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2" y="46177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3D1"/>
                </a:solidFill>
                <a:latin typeface="Calibri"/>
              </a:rPr>
              <a:t>Topic summary sentence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4983480"/>
            <a:ext cx="2971800" cy="502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51392" y="50109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imageKeywords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1392" y="5212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3D1"/>
                </a:solidFill>
                <a:latin typeface="Calibri"/>
              </a:rPr>
              <a:t>5 Unsplash search terms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32520" y="5532120"/>
            <a:ext cx="2971800" cy="502920"/>
          </a:xfrm>
          <a:prstGeom prst="rect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555040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917"/>
                </a:solidFill>
                <a:latin typeface="Calibri"/>
              </a:rPr>
              <a:t>~500 tokens  -  97% savings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PHASE 2 — SPECIALIZED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8F5"/>
                </a:solidFill>
                <a:latin typeface="Calibri"/>
              </a:rPr>
              <a:t>Four workers. Separate key pools. Zero collision.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17320"/>
            <a:ext cx="2788920" cy="512064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7889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Text &amp; Quiz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2423160" cy="320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21671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  <a:latin typeface="Calibri"/>
              </a:rPr>
              <a:t>PRIMARY key 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Input: Master Context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81528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Expands into 4 prose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57016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Each section has inline MCQ quiz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32504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Adapts tone to grade level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417320"/>
            <a:ext cx="2788920" cy="512064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417320"/>
            <a:ext cx="2788920" cy="54864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5727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5A"/>
                </a:solidFill>
                <a:latin typeface="Calibri"/>
              </a:rPr>
              <a:t>Slides Agent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2152" y="2148840"/>
            <a:ext cx="2423160" cy="320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1671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C5A"/>
                </a:solidFill>
                <a:latin typeface="Calibri"/>
              </a:rPr>
              <a:t>SECONDARY key pool (isolated)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606040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Input: Master Context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081528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Generates 6 typed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3557016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Each slide has narration 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4032504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Unsplash images auto-fetched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8503" y="1417320"/>
            <a:ext cx="2788920" cy="512064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8503" y="1417320"/>
            <a:ext cx="2788920" cy="54864"/>
          </a:xfrm>
          <a:prstGeom prst="rect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3" y="15727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B07A"/>
                </a:solidFill>
                <a:latin typeface="Calibri"/>
              </a:rPr>
              <a:t>Mindmap 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01383" y="2148840"/>
            <a:ext cx="2423160" cy="320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1" y="21671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B07A"/>
                </a:solidFill>
                <a:latin typeface="Calibri"/>
              </a:rPr>
              <a:t>Zero Gemini 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3" y="2606040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Input: Master Context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3081528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Builds React Flow node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3" y="3557016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Concepts -&gt; nodes, links -&gt; edges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3" y="4032504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Instant — no API needed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17736" y="1417320"/>
            <a:ext cx="2788920" cy="512064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17736" y="1417320"/>
            <a:ext cx="27889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0615" y="15727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Audio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0615" y="2148840"/>
            <a:ext cx="2423160" cy="3200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8904" y="21671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0A5FA"/>
                </a:solidFill>
                <a:latin typeface="Calibri"/>
              </a:rPr>
              <a:t>Zero Gemini calls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5" y="2606040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Input: Completed text content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0615" y="3081528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Extracts prose into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0615" y="3557016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Chapter markers from sections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0615" y="4032504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· Browser Web Speech API plays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01384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16C"/>
                </a:solidFill>
                <a:latin typeface="Calibri"/>
              </a:rPr>
              <a:t>Primary pool (keys 2-13) serves Lead + Text agents  ·  Secondary pool (keys 14-24) serves Slides agent  ·  Chat + Test have dedicated keys 0 &amp;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5A"/>
                </a:solidFill>
                <a:latin typeface="Calibri"/>
              </a:rPr>
              <a:t>THE LEARNING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92524"/>
                </a:solidFill>
                <a:latin typeface="Calibri"/>
              </a:rPr>
              <a:t>5 formats. One module. Every learning style.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63040"/>
            <a:ext cx="2212848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2212848" cy="4572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2524"/>
                </a:solidFill>
                <a:latin typeface="Calibr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7004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  <a:latin typeface="Calibri"/>
              </a:rPr>
              <a:t>Raw source text from the web or your uploaded 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2724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  <a:latin typeface="Calibri"/>
              </a:rPr>
              <a:t>Full transparency on what AMI learned from.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63040"/>
            <a:ext cx="2212848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463040"/>
            <a:ext cx="2212848" cy="45720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5A"/>
                </a:solidFill>
                <a:latin typeface="Calibri"/>
              </a:rPr>
              <a:t>Immersive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67004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  <a:latin typeface="Calibri"/>
              </a:rPr>
              <a:t>AI prose in 4 sections with inline MCQ quizzes.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2724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  <a:latin typeface="Calibri"/>
              </a:rPr>
              <a:t>Wrong answer shows reset banner — try again.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463040"/>
            <a:ext cx="2212848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1463040"/>
            <a:ext cx="2212848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Slides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  <a:latin typeface="Calibri"/>
              </a:rPr>
              <a:t>6 auto-generated slides with narration bar.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2724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  <a:latin typeface="Calibri"/>
              </a:rPr>
              <a:t>Play/pause controls. Unsplash images per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463040"/>
            <a:ext cx="2212848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1463040"/>
            <a:ext cx="2212848" cy="457200"/>
          </a:xfrm>
          <a:prstGeom prst="rect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B07A"/>
                </a:solidFill>
                <a:latin typeface="Calibri"/>
              </a:rPr>
              <a:t>Audio 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67004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  <a:latin typeface="Calibri"/>
              </a:rPr>
              <a:t>Podcast-style player. Web Speech API — zero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12724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  <a:latin typeface="Calibri"/>
              </a:rPr>
              <a:t>Chapter markers for navigation.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1463040"/>
            <a:ext cx="2212848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1463040"/>
            <a:ext cx="2212848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Mindmap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67004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  <a:latin typeface="Calibri"/>
              </a:rPr>
              <a:t>Interactive React Flow graph. Drag, zoom, pan.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127248"/>
            <a:ext cx="1965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  <a:latin typeface="Calibri"/>
              </a:rPr>
              <a:t>Click a node to expand its sub-topics.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400800"/>
            <a:ext cx="11521440" cy="347472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C1917"/>
                </a:solidFill>
                <a:latin typeface="Calibri"/>
              </a:rPr>
              <a:t>+ Test Knowledge tab: Write your explanation -&gt; AMI anchors it against Master Context -&gt; score 0-100 with gap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B07A"/>
                </a:solidFill>
                <a:latin typeface="Calibri"/>
              </a:rPr>
              <a:t>ADAPTIVE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8F5"/>
                </a:solidFill>
                <a:latin typeface="Calibri"/>
              </a:rPr>
              <a:t>AMI gets smarter with every question you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303520" cy="521208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B07A"/>
                </a:solidFill>
                <a:latin typeface="Calibri"/>
              </a:rPr>
              <a:t>HOW IT ADAPTS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4846320" cy="93268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B07A"/>
                </a:solidFill>
                <a:latin typeface="Calibri"/>
              </a:rPr>
              <a:t>Quiz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If &lt; 60% -&gt; simpler explanations and more analogies in next 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27832"/>
            <a:ext cx="4846320" cy="93268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735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B07A"/>
                </a:solidFill>
                <a:latin typeface="Calibri"/>
              </a:rPr>
              <a:t>Attempt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21024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If avg &gt; 1.8 tries -&gt; slower pacing, more examples and repetition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306824"/>
            <a:ext cx="4846320" cy="93268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5254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B07A"/>
                </a:solidFill>
                <a:latin typeface="Calibri"/>
              </a:rPr>
              <a:t>Test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00016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If &gt; 85% -&gt; deeper content, more nuance and edge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385816"/>
            <a:ext cx="4846320" cy="93268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315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B07A"/>
                </a:solidFill>
                <a:latin typeface="Calibri"/>
              </a:rPr>
              <a:t>Interest 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79008"/>
            <a:ext cx="4480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6D3D1"/>
                </a:solidFill>
                <a:latin typeface="Calibri"/>
              </a:rPr>
              <a:t>Every analogy and example is themed around your chosen interest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17320"/>
            <a:ext cx="5715000" cy="521208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5A"/>
                </a:solidFill>
                <a:latin typeface="Calibri"/>
              </a:rPr>
              <a:t>TEST KNOWLEDGE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011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AF8F5"/>
                </a:solidFill>
                <a:latin typeface="Calibri"/>
              </a:rPr>
              <a:t>Anchor-Phrase Matching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651760"/>
            <a:ext cx="5212080" cy="8229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651760"/>
            <a:ext cx="45720" cy="82296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2679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5A"/>
                </a:solidFill>
                <a:latin typeface="Calibri"/>
              </a:rPr>
              <a:t>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79192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Each coreConcept + keyFact becomes a named ANCHOR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611880"/>
            <a:ext cx="5212080" cy="8229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611880"/>
            <a:ext cx="45720" cy="8229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6393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Classify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639312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Gemini marks each anchor:  hit / partial / miss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572000"/>
            <a:ext cx="5212080" cy="8229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572000"/>
            <a:ext cx="45720" cy="822960"/>
          </a:xfrm>
          <a:prstGeom prst="rect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45994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B07A"/>
                </a:solidFill>
                <a:latin typeface="Calibri"/>
              </a:rPr>
              <a:t>Calculate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599432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base = (hits x 2 + partials x 1) / totalAnchors x 2 x 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5532120"/>
            <a:ext cx="5212080" cy="8229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5532120"/>
            <a:ext cx="45720" cy="8229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559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  <a:latin typeface="Calibri"/>
              </a:rPr>
              <a:t>Explain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559552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3D1"/>
                </a:solidFill>
                <a:latin typeface="Calibri"/>
              </a:rPr>
              <a:t>gaps[] tells user exactly what they missed &amp; why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5A"/>
                </a:solidFill>
                <a:latin typeface="Calibri"/>
              </a:rPr>
              <a:t>ZERO-COST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92524"/>
                </a:solidFill>
                <a:latin typeface="Calibri"/>
              </a:rPr>
              <a:t>$0/month. 100% uptime. No compromises.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200400" cy="23774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8C5A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AF8F5"/>
                </a:solidFill>
                <a:latin typeface="Calibri"/>
              </a:rPr>
              <a:t>Gemini API Keys
in rotation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371600"/>
            <a:ext cx="3200400" cy="23774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417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A78BFA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7432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AF8F5"/>
                </a:solidFill>
                <a:latin typeface="Calibri"/>
              </a:rPr>
              <a:t>Gemini calls per
module generated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371600"/>
            <a:ext cx="3200400" cy="237744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508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4FB07A"/>
                </a:solidFill>
                <a:latin typeface="Calibri"/>
              </a:rPr>
              <a:t>97%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7432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AF8F5"/>
                </a:solidFill>
                <a:latin typeface="Calibri"/>
              </a:rPr>
              <a:t>Token reduction
vs. naive approach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77639"/>
            <a:ext cx="1143000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54864" cy="2651760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148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92524"/>
                </a:solidFill>
                <a:latin typeface="Calibri"/>
              </a:rPr>
              <a:t>Infinite Free-Tier Failover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6344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  <a:latin typeface="Calibri"/>
              </a:rPr>
              <a:t>&gt;&gt;  Key hits 429 (rate limit) -&gt; instantly frozen for 65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2064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  <a:latin typeface="Calibri"/>
              </a:rPr>
              <a:t>&gt;&gt;  Next available key in pool claimed within milliseconds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57784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  <a:latin typeface="Calibri"/>
              </a:rPr>
              <a:t>&gt;&gt;  Master Context already saved in Supabase — no restart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35040"/>
            <a:ext cx="10881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  <a:latin typeface="Calibri"/>
              </a:rPr>
              <a:t>&gt;&gt;  User sees nothing — the switch is completely invisible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8F5"/>
                </a:solidFill>
                <a:latin typeface="Calibri"/>
              </a:rPr>
              <a:t>Every layer chosen for zero cost and maximum leverage.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17320"/>
            <a:ext cx="2788920" cy="5074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788920" cy="54864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5A"/>
                </a:solidFill>
                <a:latin typeface="Calibri"/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157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8C5A"/>
                </a:solidFill>
                <a:latin typeface="Calibri"/>
              </a:rPr>
              <a:t>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48716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SPA with React Router, framer-motion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27248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3182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8C5A"/>
                </a:solidFill>
                <a:latin typeface="Calibri"/>
              </a:rPr>
              <a:t>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51129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Cream / peach / lavender palette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51376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4206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8C5A"/>
                </a:solidFill>
                <a:latin typeface="Calibri"/>
              </a:rPr>
              <a:t>ReactFlow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53542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Interactive mindmap node 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75504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52303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8C5A"/>
                </a:solidFill>
                <a:latin typeface="Calibri"/>
              </a:rPr>
              <a:t>Web Speech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555955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Free browser TTS — zero API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9272" y="1417320"/>
            <a:ext cx="2788920" cy="5074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9272" y="1417320"/>
            <a:ext cx="27889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554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Calibri"/>
              </a:rPr>
              <a:t>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56432" y="2103120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304" y="2157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78BFA"/>
                </a:solidFill>
                <a:latin typeface="Calibri"/>
              </a:rPr>
              <a:t>Node.js + Express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248716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TypeScript REST API on port 3001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6432" y="3127248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4" y="3182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78BFA"/>
                </a:solidFill>
                <a:latin typeface="Calibri"/>
              </a:rPr>
              <a:t>Hub &amp; Spoke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351129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Lead Agent then 4 parallel workers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56432" y="4151376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5304" y="4206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78BFA"/>
                </a:solidFill>
                <a:latin typeface="Calibri"/>
              </a:rPr>
              <a:t>Gemini 2.0 Flash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5304" y="453542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25-key rotation, dedicated chat/test keys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6432" y="5175504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75304" y="52303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78BFA"/>
                </a:solidFill>
                <a:latin typeface="Calibri"/>
              </a:rPr>
              <a:t>pdf-parse + multer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5304" y="555955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PDF and image upload handling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8503" y="1417320"/>
            <a:ext cx="2788920" cy="5074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8503" y="1417320"/>
            <a:ext cx="2788920" cy="54864"/>
          </a:xfrm>
          <a:prstGeom prst="rect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554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B07A"/>
                </a:solidFill>
                <a:latin typeface="Calibri"/>
              </a:rPr>
              <a:t>Database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5664" y="2103120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4536" y="2157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B07A"/>
                </a:solidFill>
                <a:latin typeface="Calibri"/>
              </a:rPr>
              <a:t>Supabase Postgres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4536" y="248716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User auth, modules, learning events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55664" y="3127248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74536" y="3182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B07A"/>
                </a:solidFill>
                <a:latin typeface="Calibri"/>
              </a:rPr>
              <a:t>pgvector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4536" y="351129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RAG embeddings for locked chatbot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55664" y="4151376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74536" y="4206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B07A"/>
                </a:solidFill>
                <a:latin typeface="Calibri"/>
              </a:rPr>
              <a:t>Supabase Storage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74536" y="453542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Module caching, skip repeat scrapes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5175504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74536" y="52303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B07A"/>
                </a:solidFill>
                <a:latin typeface="Calibri"/>
              </a:rPr>
              <a:t>Row-level 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4536" y="555955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Users only see their own data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17736" y="1417320"/>
            <a:ext cx="2788920" cy="5074920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17736" y="1417320"/>
            <a:ext cx="278892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54896" y="155448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0A5FA"/>
                </a:solidFill>
                <a:latin typeface="Calibri"/>
              </a:rPr>
              <a:t>Infra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54896" y="2103120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73767" y="2157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0A5FA"/>
                </a:solidFill>
                <a:latin typeface="Calibri"/>
              </a:rPr>
              <a:t>Vercel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73767" y="248716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Frontend — auto-deploy, free tier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54896" y="3127248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3767" y="3182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0A5FA"/>
                </a:solidFill>
                <a:latin typeface="Calibri"/>
              </a:rPr>
              <a:t>Render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73767" y="351129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Backend Node service, free tier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54896" y="4151376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73767" y="4206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0A5FA"/>
                </a:solidFill>
                <a:latin typeface="Calibri"/>
              </a:rPr>
              <a:t>Unsplash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73767" y="453542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Free image search for slides &amp; cards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54896" y="5175504"/>
            <a:ext cx="2514600" cy="9144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73767" y="52303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0A5FA"/>
                </a:solidFill>
                <a:latin typeface="Calibri"/>
              </a:rPr>
              <a:t>SerpAPI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73767" y="555955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A29E"/>
                </a:solidFill>
                <a:latin typeface="Calibri"/>
              </a:rPr>
              <a:t>Web search for topic source material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AF8F5"/>
                </a:solidFill>
                <a:latin typeface="Calibri"/>
              </a:rPr>
              <a:t>Live. Free.
Open to every learner.</a:t>
            </a:r>
          </a:p>
        </p:txBody>
      </p:sp>
      <p:sp>
        <p:nvSpPr>
          <p:cNvPr id="4" name="Oval 3"/>
          <p:cNvSpPr/>
          <p:nvPr/>
        </p:nvSpPr>
        <p:spPr>
          <a:xfrm>
            <a:off x="2377440" y="3749039"/>
            <a:ext cx="1005840" cy="1005840"/>
          </a:xfrm>
          <a:prstGeom prst="ellipse">
            <a:avLst/>
          </a:prstGeom>
          <a:solidFill>
            <a:srgbClr val="FF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3749039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917"/>
                </a:solidFill>
                <a:latin typeface="Calibri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92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8C5A"/>
                </a:solidFill>
                <a:latin typeface="Calibri"/>
              </a:rPr>
              <a:t>Live on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A29E"/>
                </a:solidFill>
                <a:latin typeface="Calibri"/>
              </a:rPr>
              <a:t>Deployed. Working right now.</a:t>
            </a:r>
          </a:p>
        </p:txBody>
      </p:sp>
      <p:sp>
        <p:nvSpPr>
          <p:cNvPr id="8" name="Oval 7"/>
          <p:cNvSpPr/>
          <p:nvPr/>
        </p:nvSpPr>
        <p:spPr>
          <a:xfrm>
            <a:off x="5669279" y="3749039"/>
            <a:ext cx="1005840" cy="10058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79" y="3749039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917"/>
                </a:solidFill>
                <a:latin typeface="Calibri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892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A78BFA"/>
                </a:solidFill>
                <a:latin typeface="Calibri"/>
              </a:rPr>
              <a:t>Zero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394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A29E"/>
                </a:solidFill>
                <a:latin typeface="Calibri"/>
              </a:rPr>
              <a:t>$0/month — runs indefinitely.</a:t>
            </a:r>
          </a:p>
        </p:txBody>
      </p:sp>
      <p:sp>
        <p:nvSpPr>
          <p:cNvPr id="12" name="Oval 11"/>
          <p:cNvSpPr/>
          <p:nvPr/>
        </p:nvSpPr>
        <p:spPr>
          <a:xfrm>
            <a:off x="8961119" y="3749039"/>
            <a:ext cx="1005840" cy="1005840"/>
          </a:xfrm>
          <a:prstGeom prst="ellipse">
            <a:avLst/>
          </a:prstGeom>
          <a:solidFill>
            <a:srgbClr val="4F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19" y="3749039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1917"/>
                </a:solidFill>
                <a:latin typeface="Calibri"/>
              </a:rPr>
              <a:t>ADAPTIVE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892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FB07A"/>
                </a:solidFill>
                <a:latin typeface="Calibri"/>
              </a:rPr>
              <a:t>Truly Adaptive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394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A29E"/>
                </a:solidFill>
                <a:latin typeface="Calibri"/>
              </a:rPr>
              <a:t>Learns how you learn.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6035040"/>
            <a:ext cx="10360152" cy="18288"/>
          </a:xfrm>
          <a:prstGeom prst="rect">
            <a:avLst/>
          </a:prstGeom>
          <a:solidFill>
            <a:srgbClr val="2C2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144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AMI — GCEM Hacks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6144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7534E"/>
                </a:solidFill>
                <a:latin typeface="Calibri"/>
              </a:rPr>
              <a:t>Built with love by Sagar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